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de la sesión: que mañana podáis usar el ecógrafo ante un paciente con disnea</a:t>
            </a:r>
          </a:p>
          <a:p>
            <a:r>
              <a:t>y saber qué mirar, qué concluir y qué no. (0,5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Votación a mano alzada. No dar la respuesta: se retoma en la diapositiva 10.</a:t>
            </a:r>
          </a:p>
          <a:p>
            <a:r>
              <a:t>El residente plantea salbutamol y antibiótico «por si acaso» mientras llega el péptido.</a:t>
            </a:r>
          </a:p>
          <a:p>
            <a:r>
              <a:t>Es la situación típica en la que la clínica y la radiografía no deciden.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En el anciano con insuficiencia respiratoria, el tratamiento inicial es inapropiado</a:t>
            </a:r>
          </a:p>
          <a:p>
            <a:r>
              <a:t>en uno de cada tres casos, y la mortalidad pasa del 11 % al 25 % (Ray 2006).</a:t>
            </a:r>
          </a:p>
          <a:p>
            <a:r>
              <a:t>En España, más de uno de cada cinco pacientes reingresa en 30 días (Fernández-Gassó 2017).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El pulmón aireado no se «ve»: solo produce artefactos.</a:t>
            </a:r>
          </a:p>
          <a:p>
            <a:r>
              <a:t>La pleura reverbera y da las líneas A (pulmón normal). Cuando los septos subpleurales</a:t>
            </a:r>
          </a:p>
          <a:p>
            <a:r>
              <a:t>se engrosan de agua aparecen las líneas B. Si confluyen, «pulmón blanco»; si se pierde</a:t>
            </a:r>
          </a:p>
          <a:p>
            <a:r>
              <a:t>todo el aire, consolidación. Las líneas B reflejan el agua pulmonar extravascular mejor</a:t>
            </a:r>
          </a:p>
          <a:p>
            <a:r>
              <a:t>que la presión de enclavamiento.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Las líneas Z (cortas, no llegan al fondo) y las líneas E (enfisema subcutáneo)</a:t>
            </a:r>
          </a:p>
          <a:p>
            <a:r>
              <a:t>no son líneas B. Una o dos por espacio pueden ser normales en las bases.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Es el error técnico más frecuente: los filtros «limpian» precisamente las líneas B.</a:t>
            </a:r>
          </a:p>
          <a:p>
            <a:r>
              <a:t>La sonda sectorial es motivo de desacuerdo: la EACVI la acepta y el consenso internacional</a:t>
            </a:r>
          </a:p>
          <a:p>
            <a:r>
              <a:t>no la recomienda. La imagen muestra un pulmón normal con líneas A (paciente pediátrico).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(1,5 min) Cuatro zonas por hemitórax: anterior superior e inferior, lateral superior e inferior.</a:t>
            </a:r>
          </a:p>
          <a:p>
            <a:r>
              <a:t>Se cuenta en el peor espacio de cada zona, con clips de unos 6 s. Confluentes: porcentaje de</a:t>
            </a:r>
          </a:p>
          <a:p>
            <a:r>
              <a:t>pantalla dividido entre 10. Edema = ≥ 3 líneas B por zona en ≥ 2 zonas por hemitórax, bilateral.</a:t>
            </a:r>
          </a:p>
          <a:p>
            <a:r>
              <a:t>Los protocolos de 4, 8 y 28 zonas tienen umbrales distintos y no intercambiables.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(1,5 min) Tres puntos por hemitórax y siete perfiles. Perfil B (líneas B anteriores bilaterales</a:t>
            </a:r>
          </a:p>
          <a:p>
            <a:r>
              <a:t>con deslizamiento) = edema hemodinámico. El perfil A obliga a mirar las piernas (TEP) y el punto</a:t>
            </a:r>
          </a:p>
          <a:p>
            <a:r>
              <a:t>PLAPS (neumonía). Perfil A′ con punto pulmón = neumotórax. Acertó el 90,5 % en su estudio</a:t>
            </a:r>
          </a:p>
          <a:p>
            <a:r>
              <a:t>original de UCI con operadores expertos; en urgencias rinde peor para el TEP (caso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(1,5 min) El péptido sirve para descartar; la ecografía confirma y descarta.</a:t>
            </a:r>
          </a:p>
          <a:p>
            <a:r>
              <a:t>En el ECA de Pivetta, añadir la ecografía a la clínica dio un AUC de 0,95, frente a 0,87 con</a:t>
            </a:r>
          </a:p>
          <a:p>
            <a:r>
              <a:t>Rx y NT-proBNP. Pulmón y corazón a la vez suben la especificidad al 96 % (Popat 2026).</a:t>
            </a:r>
          </a:p>
          <a:p>
            <a:r>
              <a:t>La VCI aislada no sirve para diagnosticar la ICA (Squizzato 2021).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Recuperar la votación de la diapositiva 2. Las sibilancias eran «asma cardial».</a:t>
            </a:r>
          </a:p>
          <a:p>
            <a:r>
              <a:t>Con una probabilidad pretest del 40 %, el patrón B la eleva a ≈ 83 % (cálculo propio con el LR+ de 7,4).</a:t>
            </a:r>
          </a:p>
          <a:p>
            <a:r>
              <a:t>Después, ecocardiografía reglada y NT-proBNP con el punto de corte por edad.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(0,5 min) Pausa.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En urgencias, la sensibilidad del BLUE para el TEP cae al 46 % (Bekgoz 2019).</a:t>
            </a:r>
          </a:p>
          <a:p>
            <a:r>
              <a:t>Variante opcional: líneas B focales con consolidación y pleura irregular son neumonía,</a:t>
            </a:r>
          </a:p>
          <a:p>
            <a:r>
              <a:t>no edema (Padrao 2025; Copetti 2008).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(0,5 min) Pausa.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(1,5 min) Pregunta: «¿la dais de alta?». La ESC 2026 incluye por primera vez la LUS entre las</a:t>
            </a:r>
          </a:p>
          <a:p>
            <a:r>
              <a:t>herramientas de descongestión al alta: óptimo &lt; 5 líneas B (28 u 8 zonas), aceptable &lt; 15 (28 zonas).</a:t>
            </a:r>
          </a:p>
          <a:p>
            <a:r>
              <a:t>Con el protocolo de 8 zonas de la EACVI, congestión residual = ≥ 1 zona positiva en cada</a:t>
            </a:r>
          </a:p>
          <a:p>
            <a:r>
              <a:t>hemitórax: decid siempre qué protocolo usáis. El hallazgo cambia el plan de alta</a:t>
            </a:r>
          </a:p>
          <a:p>
            <a:r>
              <a:t>(diurético y revisión a 1–2 semanas).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(1,5 min) Ensayos sobre todo ambulatorios o tras el alta. Durante el ingreso, los pilotos fueron</a:t>
            </a:r>
          </a:p>
          <a:p>
            <a:r>
              <a:t>negativos (BLUSHED-AHF, DMP-Plus), y la ESC 2026 guía el diurético por el sodio urinario</a:t>
            </a:r>
          </a:p>
          <a:p>
            <a:r>
              <a:t>(IIb B1), no por las líneas B. Al-Sagban usa efectos fijos y tiene una carta crítica publicada.</a:t>
            </a:r>
          </a:p>
          <a:p>
            <a:r>
              <a:t>Pronóstico no es beneficio. Ensayos en marcha: ICARUS y ABDOPOCUS-HF (España).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(0,5 min) Pausa.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A quién: disnea aguda con incertidumbre diagnóstica (ACP: condicional, certeza baja).</a:t>
            </a:r>
          </a:p>
          <a:p>
            <a:r>
              <a:t>Cuándo: lo antes posible, idealmente antes del diurético. Aplicarlo por sistema a toda disnea</a:t>
            </a:r>
          </a:p>
          <a:p>
            <a:r>
              <a:t>no acortó la estancia (Ovesen 2026); el beneficio es llegar antes al diagnóstico y al</a:t>
            </a:r>
          </a:p>
          <a:p>
            <a:r>
              <a:t>tratamiento correcto (Szabó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La laguna: ninguna guía recomienda con clase guiar el diurético por las líneas B durante</a:t>
            </a:r>
          </a:p>
          <a:p>
            <a:r>
              <a:t>el ingreso. La ESC 2026 cambia la terminología a «IC descompensada» y guía el diurético por el</a:t>
            </a:r>
          </a:p>
          <a:p>
            <a:r>
              <a:t>sodio urinario (IIb B1).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En la EPOC, la sensibilidad de la LUS para una IC concurrente es solo del 17 %.</a:t>
            </a:r>
          </a:p>
          <a:p>
            <a:r>
              <a:t>Para seguir a un paciente, no cambiéis nada del protocolo. La integración clínica es lo que</a:t>
            </a:r>
          </a:p>
          <a:p>
            <a:r>
              <a:t>más tarda en aprenderse. Documentad zonas, método y clips.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(0,5 min) Volver al caso 1. El diagnóstico se adelanta unos 60 minutos y el tratamiento</a:t>
            </a:r>
          </a:p>
          <a:p>
            <a:r>
              <a:t>unos 30 (Szabó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Bibliografía completa en la web del proyecto (sección Fuentes).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828800"/>
            <a:ext cx="822960" cy="25400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0" i="0">
                <a:solidFill>
                  <a:srgbClr val="111111"/>
                </a:solidFill>
                <a:latin typeface="Aptos Display"/>
              </a:rPr>
              <a:t>Ecografía pulmonar en la disnea aguda y la insuficiencia cardiaca aguda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707070"/>
                </a:solidFill>
                <a:latin typeface="Aptos"/>
              </a:rPr>
              <a:t>Del protocolo BLUE a la descongestión guiada por líneas B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760720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707070"/>
                </a:solidFill>
                <a:latin typeface="Aptos"/>
              </a:rPr>
              <a:t>Yaiza Díaz del Castillo  ·  Sesión clínica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Caso 1 · «La radiografía no lo aclara»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5B3F8C"/>
                </a:solidFill>
                <a:latin typeface="Aptos"/>
              </a:rPr>
              <a:t>—  </a:t>
            </a:r>
            <a:r>
              <a:rPr sz="1800">
                <a:solidFill>
                  <a:srgbClr val="1A1A1A"/>
                </a:solidFill>
                <a:latin typeface="Aptos"/>
              </a:rPr>
              <a:t>Varón de 74 años: HTA, DM, EPOC leve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5B3F8C"/>
                </a:solidFill>
                <a:latin typeface="Aptos"/>
              </a:rPr>
              <a:t>—  </a:t>
            </a:r>
            <a:r>
              <a:rPr sz="1800">
                <a:solidFill>
                  <a:srgbClr val="1A1A1A"/>
                </a:solidFill>
                <a:latin typeface="Aptos"/>
              </a:rPr>
              <a:t>Disnea de 4 días, ortopnea. SpO₂ 88 %, FR 28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5B3F8C"/>
                </a:solidFill>
                <a:latin typeface="Aptos"/>
              </a:rPr>
              <a:t>—  </a:t>
            </a:r>
            <a:r>
              <a:rPr sz="1800">
                <a:solidFill>
                  <a:srgbClr val="1A1A1A"/>
                </a:solidFill>
                <a:latin typeface="Aptos"/>
              </a:rPr>
              <a:t>Sibilancias difusas y crepitantes basales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5B3F8C"/>
                </a:solidFill>
                <a:latin typeface="Aptos"/>
              </a:rPr>
              <a:t>—  </a:t>
            </a:r>
            <a:r>
              <a:rPr sz="1800">
                <a:solidFill>
                  <a:srgbClr val="1A1A1A"/>
                </a:solidFill>
                <a:latin typeface="Aptos"/>
              </a:rPr>
              <a:t>Rx AP en decúbito: ¿redistribución o infiltrado?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5B3F8C"/>
                </a:solidFill>
                <a:latin typeface="Aptos"/>
              </a:rPr>
              <a:t>—  </a:t>
            </a:r>
            <a:r>
              <a:rPr sz="1800">
                <a:solidFill>
                  <a:srgbClr val="1A1A1A"/>
                </a:solidFill>
                <a:latin typeface="Aptos"/>
              </a:rPr>
              <a:t>NT-proBNP pendiente: 60–90 min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5B3F8C"/>
                </a:solidFill>
                <a:latin typeface="Aptos"/>
              </a:rPr>
              <a:t>—  </a:t>
            </a:r>
            <a:r>
              <a:rPr sz="1800">
                <a:solidFill>
                  <a:srgbClr val="1A1A1A"/>
                </a:solidFill>
                <a:latin typeface="Aptos"/>
              </a:rPr>
              <a:t>¿Probabilidad de ICA?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707070"/>
                </a:solidFill>
                <a:latin typeface="Aptos"/>
              </a:rPr>
              <a:t>      ·  </a:t>
            </a:r>
            <a:r>
              <a:rPr sz="1400">
                <a:solidFill>
                  <a:srgbClr val="707070"/>
                </a:solidFill>
                <a:latin typeface="Aptos"/>
              </a:rPr>
              <a:t>&lt; 25 %  ·  25–75 %  ·  &gt; 75 %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1800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Aptos"/>
              </a:rPr>
              <a:t>Fuente: Caso ficticio con fines docentes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El problema: la clínica y la radiografía fallan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4415" cy="2514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547207"/>
                <a:gridCol w="5547208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111"/>
                          </a:solidFill>
                          <a:latin typeface="Aptos"/>
                        </a:rPr>
                        <a:t>Dato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111"/>
                          </a:solidFill>
                          <a:latin typeface="Aptos"/>
                        </a:rPr>
                        <a:t>Cifra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Disnea aguda en urgencias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≈ 5 % de las visitas; la IC es la 2.ª causa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Tras un ingreso por 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Hasta el 45 % reingresa o muere en 1 año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Ausencia de crepitantes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LR− de solo 0,51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Radiografía de tórax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Normal en 1 de cada 5 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1965960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971800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474720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1800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Aptos"/>
              </a:rPr>
              <a:t>Fuente: Kelly 2017 · Gargani 2023 · Wang 2005 · Collins 2006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Del aire al agua: líneas A y líneas 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s-espectro-aire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307" y="1325880"/>
            <a:ext cx="787908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707070"/>
                </a:solidFill>
                <a:latin typeface="Aptos"/>
              </a:rPr>
              <a:t>Cuanto menos aire y más agua, más líneas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01800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Aptos"/>
              </a:rPr>
              <a:t>Fuente: Esquema propio · Demi 2023 · Lichtenstein 1997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Qué es (y qué no es) una línea 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76909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Nace de la pleura y llega al fondo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Se mueve con el deslizamiento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Borra las líneas A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≥ 3 por espacio intercostal = zona positiva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No es sinónimo de insuficiencia cardiaca</a:t>
            </a:r>
          </a:p>
        </p:txBody>
      </p:sp>
      <p:pic>
        <p:nvPicPr>
          <p:cNvPr id="6" name="Picture 5" descr="lus-lineas-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7037" y="1371600"/>
            <a:ext cx="4501035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00800"/>
            <a:ext cx="101800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Aptos"/>
              </a:rPr>
              <a:t>Fuente: Volpicelli 2012 · Gargani 2023 · Imagen: Safai Zadeh et al., Diagnostics 2024 (CC BY 4.0)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Configura el equipo para el pulmón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76909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Preset pulmonar o abdominal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Sin armónicos, sin filtros, sin compuesto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Foco en la pleura, índice mecánico bajo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Convexa o microconvexa; lineal para la pleura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Para seguir: misma sonda, preset y postura</a:t>
            </a:r>
          </a:p>
        </p:txBody>
      </p:sp>
      <p:pic>
        <p:nvPicPr>
          <p:cNvPr id="6" name="Picture 5" descr="lus-lineas-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055" y="1429669"/>
            <a:ext cx="5050999" cy="47301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00800"/>
            <a:ext cx="101800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Aptos"/>
              </a:rPr>
              <a:t>Fuente: Demi 2023 · Gargani 2023 · Platz 2015 · Imagen: Foutzitzi et al., Diagnostics 2025 (CC BY 4.0)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El protocolo de 8 zonas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s-8-zo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925" y="1325880"/>
            <a:ext cx="8329845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1800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Aptos"/>
              </a:rPr>
              <a:t>Fuente: Gargani 2023 (consenso EACVI) · Buessler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El protocolo BLUE en un vistazo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s-arbol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087" y="1325880"/>
            <a:ext cx="835152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1800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Aptos"/>
              </a:rPr>
              <a:t>Fuente: Simplificado de Lichtenstein 2008 · Lichtenstein 2014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¿Cuánto rinde? Ecografía frente a Rx y péptidos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76909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>
                <a:solidFill>
                  <a:srgbClr val="5B3F8C"/>
                </a:solidFill>
                <a:latin typeface="Aptos"/>
              </a:rPr>
              <a:t>—  </a:t>
            </a:r>
            <a:r>
              <a:rPr sz="2400">
                <a:solidFill>
                  <a:srgbClr val="1A1A1A"/>
                </a:solidFill>
                <a:latin typeface="Aptos"/>
              </a:rPr>
              <a:t>Ecografía: sensibilidad 88 % frente al 73 % de la Rx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5B3F8C"/>
                </a:solidFill>
                <a:latin typeface="Aptos"/>
              </a:rPr>
              <a:t>—  </a:t>
            </a:r>
            <a:r>
              <a:rPr sz="2400">
                <a:solidFill>
                  <a:srgbClr val="1A1A1A"/>
                </a:solidFill>
                <a:latin typeface="Aptos"/>
              </a:rPr>
              <a:t>Patrón B: LR+ 7,4 · LR− 0,16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5B3F8C"/>
                </a:solidFill>
                <a:latin typeface="Aptos"/>
              </a:rPr>
              <a:t>—  </a:t>
            </a:r>
            <a:r>
              <a:rPr sz="2400">
                <a:solidFill>
                  <a:srgbClr val="1A1A1A"/>
                </a:solidFill>
                <a:latin typeface="Aptos"/>
              </a:rPr>
              <a:t>NT-proBNP &lt; 300 pg/ml: LR− 0,09, para descartar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5B3F8C"/>
                </a:solidFill>
                <a:latin typeface="Aptos"/>
              </a:rPr>
              <a:t>—  </a:t>
            </a:r>
            <a:r>
              <a:rPr sz="2400">
                <a:solidFill>
                  <a:srgbClr val="1A1A1A"/>
                </a:solidFill>
                <a:latin typeface="Aptos"/>
              </a:rPr>
              <a:t>LUS + clínica mejora más que Rx + NT-proBNP</a:t>
            </a:r>
          </a:p>
        </p:txBody>
      </p:sp>
      <p:pic>
        <p:nvPicPr>
          <p:cNvPr id="6" name="Picture 5" descr="lus-rendimiento-lus-vs-r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055" y="1530880"/>
            <a:ext cx="5050999" cy="452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00800"/>
            <a:ext cx="101800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Aptos"/>
              </a:rPr>
              <a:t>Fuente: Maw 2019 · Martindale 2016 · Pivetta 2019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Resolución del caso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76909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Pulmón: patrón B en 7 de 8 zonas, pleura fina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Derrame pleural bilateral pequeño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FoCUS: FEVI visual muy reducida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Diurético i.v. sin esperar al péptido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Sin antibiótico; ecocardiografía reglada</a:t>
            </a:r>
          </a:p>
        </p:txBody>
      </p:sp>
      <p:pic>
        <p:nvPicPr>
          <p:cNvPr id="6" name="Picture 5" descr="lus-probabilidad-bay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055" y="1530880"/>
            <a:ext cx="5050999" cy="452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00800"/>
            <a:ext cx="101800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Aptos"/>
              </a:rPr>
              <a:t>Fuente: Martindale 2016 · Popat 2026 · Køber 2026 (ESC)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84367" y="1737360"/>
            <a:ext cx="822960" cy="25400"/>
          </a:xfrm>
          <a:prstGeom prst="rect">
            <a:avLst/>
          </a:prstGeom>
          <a:solidFill>
            <a:srgbClr val="9C8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920240"/>
            <a:ext cx="9631375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ptos Display"/>
              </a:rPr>
              <a:t>Patrón para diagnosticar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389120"/>
            <a:ext cx="96313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DBDBD"/>
                </a:solidFill>
                <a:latin typeface="Aptos"/>
              </a:rPr>
              <a:t>Líneas B difusas y bilaterales + FoCUS confirman la ICA mejor que la radiografía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Caso 3 · Pulmón normal, paciente que no respira bien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76909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Disnea aguda con perfil A bilateral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Compresión venosa: femoral no compresible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Perfil A + TVP → TEP (especificidad 99 %)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Perfil A sin TVP no descarta el TEP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Multiórgano: sensibilidad del 90 %</a:t>
            </a:r>
          </a:p>
        </p:txBody>
      </p:sp>
      <p:pic>
        <p:nvPicPr>
          <p:cNvPr id="6" name="Picture 5" descr="lus-tvp-femoral-no-compre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055" y="1410688"/>
            <a:ext cx="5050999" cy="47681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00800"/>
            <a:ext cx="101800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Aptos"/>
              </a:rPr>
              <a:t>Fuente: Lichtenstein 2008 · Bekgoz 2019 · Nazerian 2014 · Imagen: J. Heilman, Wikimedia Commons (CC BY-SA 4.0)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84367" y="1737360"/>
            <a:ext cx="822960" cy="25400"/>
          </a:xfrm>
          <a:prstGeom prst="rect">
            <a:avLst/>
          </a:prstGeom>
          <a:solidFill>
            <a:srgbClr val="9C8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920240"/>
            <a:ext cx="9631375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ptos Display"/>
              </a:rPr>
              <a:t>Perfil A: mira las piernas y el corazón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Caso 2 · «Mañana se va de alta»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76909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ICA en mejoría; «seco» a la auscultación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Hasta el 41 % de los «secos» tiene congestión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Líneas B al alta: HR 2,32 de reingreso o muerte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ESC 2026: descartar congestión al alta (I C)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Objetivo ESC con LUS: &lt; 5 líneas B</a:t>
            </a:r>
          </a:p>
        </p:txBody>
      </p:sp>
      <p:pic>
        <p:nvPicPr>
          <p:cNvPr id="6" name="Picture 5" descr="lus-8-zonas-congestion-res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055" y="2345483"/>
            <a:ext cx="5050999" cy="28985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00800"/>
            <a:ext cx="101800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Aptos"/>
              </a:rPr>
              <a:t>Fuente: Rivas-Lasarte 2020 · Suhardi 2025 · Køber 2026 · Gargani 2023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¿Guiar el diurético por las líneas B?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s-forest-metaanali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435" y="1325880"/>
            <a:ext cx="758082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707070"/>
                </a:solidFill>
                <a:latin typeface="Aptos"/>
              </a:rPr>
              <a:t>Menos visitas urgentes, hospitalización discutida, mortalidad sin cambios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01800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Aptos"/>
              </a:rPr>
              <a:t>Fuente: Mhanna 2022 · Al-Sagban 2026 · Chotalia 2026 · Bagheri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84367" y="1737360"/>
            <a:ext cx="822960" cy="25400"/>
          </a:xfrm>
          <a:prstGeom prst="rect">
            <a:avLst/>
          </a:prstGeom>
          <a:solidFill>
            <a:srgbClr val="9C8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920240"/>
            <a:ext cx="9631375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ptos Display"/>
              </a:rPr>
              <a:t>Número para seguir la evolución, y al alta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Algoritmo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s-algoritmo-disn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295" y="1325880"/>
            <a:ext cx="8579104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1800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Aptos"/>
              </a:rPr>
              <a:t>Fuente: Síntesis docente · Qaseem 2021 (ACP) · Gargani 2023 · Lichtenstein 2008 · Martindale 2016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Qué dicen las guías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4415" cy="30175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111"/>
                          </a:solidFill>
                          <a:latin typeface="Aptos"/>
                        </a:rPr>
                        <a:t>Documento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111"/>
                          </a:solidFill>
                          <a:latin typeface="Aptos"/>
                        </a:rPr>
                        <a:t>Qué dice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111"/>
                          </a:solidFill>
                          <a:latin typeface="Aptos"/>
                        </a:rPr>
                        <a:t>Fuerza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ESC IC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LUS en el algoritmo diagnóstico y al alta (&lt; 5 líneas 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Sin clase propia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ESC IC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Descartar congestión persistente antes del alta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I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EACVI 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LUS «apropiada»; protocolo de 8 zonas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Consenso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ACP 2021 · SCCM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POCUS si hay incertidumbre diagnóstica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Condicional, certeza baja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SEMI 2025 · SEMI/SEC/S.E.N.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Posicionamiento y escala de congestión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Aptos"/>
                        </a:rPr>
                        <a:t>Sin gradación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1965960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971800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474720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977640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1800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Aptos"/>
              </a:rPr>
              <a:t>Fuente: Køber 2026 · Gargani 2023 · Qaseem 2021 · Díaz-Gómez 2025 · Tung-Chen 2025 · Llàcer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Errores frecuentes y cómo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76909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Líneas B ≠ IC: SDRA, neumonía, fibrosis, COVID-19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Una zona aislada no es edema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Sin líneas B no se descarta la IC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Sin deslizamiento ≠ neumotórax: busca el punto pulmón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5B3F8C"/>
                </a:solidFill>
                <a:latin typeface="Aptos"/>
              </a:rPr>
              <a:t>—  </a:t>
            </a:r>
            <a:r>
              <a:rPr sz="2200">
                <a:solidFill>
                  <a:srgbClr val="1A1A1A"/>
                </a:solidFill>
                <a:latin typeface="Aptos"/>
              </a:rPr>
              <a:t>Empezar: 5–20 exploraciones supervisadas</a:t>
            </a:r>
          </a:p>
        </p:txBody>
      </p:sp>
      <p:pic>
        <p:nvPicPr>
          <p:cNvPr id="6" name="Picture 5" descr="lus-cardiogenico-vs-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055" y="1962097"/>
            <a:ext cx="5050999" cy="366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00800"/>
            <a:ext cx="101800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Aptos"/>
              </a:rPr>
              <a:t>Fuente: Copetti 2008 · Chiem 2015 · Johannessen 2023 · Lichtenstein 2014 · Russell 2020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84367" y="1737360"/>
            <a:ext cx="822960" cy="25400"/>
          </a:xfrm>
          <a:prstGeom prst="rect">
            <a:avLst/>
          </a:prstGeom>
          <a:solidFill>
            <a:srgbClr val="9C8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920240"/>
            <a:ext cx="9631375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ptos Display"/>
              </a:rPr>
              <a:t>1 · Patrón para diagnosticar</a:t>
            </a:r>
          </a:p>
          <a:p>
            <a:pPr algn="ctr"/>
            <a:r>
              <a:rPr sz="3600" b="0" i="0">
                <a:solidFill>
                  <a:srgbClr val="FFFFFF"/>
                </a:solidFill>
                <a:latin typeface="Aptos Display"/>
              </a:rPr>
              <a:t>2 · Perfil A: mira las piernas</a:t>
            </a:r>
          </a:p>
          <a:p>
            <a:pPr algn="ctr"/>
            <a:r>
              <a:rPr sz="3600" b="0" i="0">
                <a:solidFill>
                  <a:srgbClr val="FFFFFF"/>
                </a:solidFill>
                <a:latin typeface="Aptos Display"/>
              </a:rPr>
              <a:t>3 · Número para seguir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389120"/>
            <a:ext cx="96313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DBDBD"/>
                </a:solidFill>
                <a:latin typeface="Aptos"/>
              </a:rPr>
              <a:t>Con 5 minutos y un ecógrafo, el paciente del caso 1 habría recibido su diurético antes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000" b="0" i="0">
                <a:solidFill>
                  <a:srgbClr val="111111"/>
                </a:solidFill>
                <a:latin typeface="Aptos Display"/>
              </a:rPr>
              <a:t>Bibliografía clave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11094415" cy="9525"/>
          </a:xfrm>
          <a:prstGeom prst="rect">
            <a:avLst/>
          </a:prstGeom>
          <a:solidFill>
            <a:srgbClr val="D4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00658"/>
            <a:ext cx="548640" cy="22225"/>
          </a:xfrm>
          <a:prstGeom prst="rect">
            <a:avLst/>
          </a:prstGeom>
          <a:solidFill>
            <a:srgbClr val="5B3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Aptos"/>
              </a:rPr>
              <a:t>1. Gargani L, et al. Lung ultrasound in acute and chronic heart failure (EACVI). Eur Heart J Cardiovasc Imaging. 2023;24:1569-82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Aptos"/>
              </a:rPr>
              <a:t>2. Demi L, et al. New International Guidelines and Consensus on the Use of Lung Ultrasound. J Ultrasound Med. 2023;42:309-44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Aptos"/>
              </a:rPr>
              <a:t>3. Køber L, et al. 2026 ESC Guidelines for the management of heart failure. Eur Heart J. 2026. doi:10.1093/eurheartj/ehag100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Aptos"/>
              </a:rPr>
              <a:t>4. Qaseem A, et al. Point-of-care ultrasonography in acute dyspnea (ACP). Ann Intern Med. 2021;174:985-93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Aptos"/>
              </a:rPr>
              <a:t>5. Lichtenstein DA, Mezière GA. The BLUE protocol. Chest. 2008;134:117-25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Aptos"/>
              </a:rPr>
              <a:t>6. Maw AM, et al. Lung ultrasound vs chest radiography in ADHF: SR/MA. JAMA Netw Open. 2019;2:e190703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Aptos"/>
              </a:rPr>
              <a:t>7. Martindale JL, et al. Diagnosing acute heart failure in the ED. Acad Emerg Med. 2016;23:223-42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Aptos"/>
              </a:rPr>
              <a:t>8. Pivetta E, et al. Lung ultrasound integrated with clinical assessment for ADHF: RCT. Eur J Heart Fail. 2019;21:754-66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Aptos"/>
              </a:rPr>
              <a:t>9. Szabó GV, et al. POCUS in acute onset dyspnea: SR/MA. Intern Emerg Med. 2023;18:639-53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Aptos"/>
              </a:rPr>
              <a:t>10. Al-Sagban A, et al. Lung ultrasound-guided decongestion: SR/MA of RCTs. J Crit Care. 2026;93:155435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Aptos"/>
              </a:rPr>
              <a:t>11. Rivas-Lasarte M, et al. Subclinical pulmonary congestion at discharge in AHF. ESC Heart Fail. 2020;7:2621-8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Aptos"/>
              </a:rPr>
              <a:t>12. Suhardi KF, et al. Residual B-lines and cardiovascular events in AHF: SR/MA. Indian Heart J. 2025;77:258-66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Aptos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