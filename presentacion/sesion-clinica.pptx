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breve. Objetivo: que mañana podáis usar el ecógrafo ante un paciente con disnea.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Votación a mano alzada. No dar la respuesta: se retoma en la resolución del caso.</a:t>
            </a:r>
          </a:p>
          <a:p>
            <a:r>
              <a:t>El residente plantea salbutamol y antibiótico «por si acaso» mientras llega el péptido.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clínica y la radiografía fallan justo cuando más las necesitamos. Si el tratamiento inicial</a:t>
            </a:r>
          </a:p>
          <a:p>
            <a:r>
              <a:t>es inapropiado, la mortalidad del anciano con insuficiencia respiratoria es del 25 % frente al 11 % (Ray 2006).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30 segundos: por qué el agua cambia el artefacto. Las líneas B reflejan el agua pulmonar</a:t>
            </a:r>
          </a:p>
          <a:p>
            <a:r>
              <a:t>mejor que la presión de enclavamiento. [Pendiente: diagrama del espectro de aireación]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Adelantar que las líneas B no son sinónimo de IC. Las líneas Z no llegan al fondo y no son líneas B.</a:t>
            </a:r>
          </a:p>
          <a:p>
            <a:r>
              <a:t>[Pendiente: clip de línea B anotada]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el error técnico más frecuente: los filtros «limpian» precisamente las líneas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protocolos de 4, 8 y 28 zonas tienen umbrales distintos y no intercambiables.</a:t>
            </a:r>
          </a:p>
          <a:p>
            <a:r>
              <a:t>[Pendiente: diagrama del tórax con las 8 zonas]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Acertó el 90,5 % en su estudio original de UCI. En urgencias rinde peor para el TEP (lo vemos en el caso 3).</a:t>
            </a:r>
          </a:p>
          <a:p>
            <a:r>
              <a:t>[Pendiente: árbol BLUE como diagrama propio]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péptido sirve para descartar; la ecografía confirma y descarta. Añadir la LUS a la clínica mejora el</a:t>
            </a:r>
          </a:p>
          <a:p>
            <a:r>
              <a:t>diagnóstico más que añadir Rx y NT-proBNP (AUC 0,95 frente a 0,87; Pivetta 2019). Pulmón y corazón</a:t>
            </a:r>
          </a:p>
          <a:p>
            <a:r>
              <a:t>a la vez suben la especificidad al 96 % (Popat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Recuperar la votación inicial. Las sibilancias eran «asma cardial». Pedir después una ecocardiografía reglada.</a:t>
            </a:r>
          </a:p>
          <a:p>
            <a:r>
              <a:t>El cálculo con el teorema de Bayes es propio (LR+ 7,4 aplicado a una probabilidad pretest del 40 %).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Variante opcional: líneas B focales con consolidación y pleura irregular = neumonía (Padrao 2025; Copetti 2008).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«¿la dais de alta?». Con 8 zonas, la congestión residual es ≥ 1 zona positiva por hemitórax.</a:t>
            </a:r>
          </a:p>
          <a:p>
            <a:r>
              <a:t>El hallazgo cambia el plan de alta: diurético y revisión a 1–2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Pronóstico no es beneficio. Al-Sagban usa efectos fijos y tiene una carta crítica publicada.</a:t>
            </a:r>
          </a:p>
          <a:p>
            <a:r>
              <a:t>Ensayos en marcha: ICARUS y ABDOPOCUS-HF (España).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Laguna: guiar el diurético durante el ingreso no tiene recomendación.</a:t>
            </a:r>
          </a:p>
          <a:p>
            <a:r>
              <a:t>PENDIENTE: verificar la guía ESC 2026 de IC antes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integración clínica es lo que más tarda en aprenderse. Mencionar la formación de la SEMI si hay residentes.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Volver al caso 1 y cerrar.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Bibliografía completa en la web del proyecto (sección Fuentes).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822960" cy="25400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0" i="0">
                <a:solidFill>
                  <a:srgbClr val="111111"/>
                </a:solidFill>
                <a:latin typeface="Aptos Display"/>
              </a:rPr>
              <a:t>Ecografía pulmonar en la disnea aguda y la insuficiencia cardiaca aguda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707070"/>
                </a:solidFill>
                <a:latin typeface="Aptos"/>
              </a:rPr>
              <a:t>Del protocolo BLUE a la descongestión guiada por líneas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76072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Aptos"/>
              </a:rPr>
              <a:t>Yaiza Díaz del Castillo  ·  Borrador ·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Caso 1 · «La radiografía no lo aclara»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Varón de 74 años: HTA, DM, EPOC leve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Disnea de 4 días, ortopnea. SpO₂ 88 %, FR 28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Sibilancias difusas y crepitantes basales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Rx AP en decúbito: ¿redistribución o infiltrado?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NT-proBNP pendiente: 60–90 min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¿Probabilidad de ICA?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707070"/>
                </a:solidFill>
                <a:latin typeface="Aptos"/>
              </a:rPr>
              <a:t>      ·  </a:t>
            </a:r>
            <a:r>
              <a:rPr sz="1400">
                <a:solidFill>
                  <a:srgbClr val="707070"/>
                </a:solidFill>
                <a:latin typeface="Aptos"/>
              </a:rPr>
              <a:t>&lt; 25 %  ·  25–75 %  ·  &gt; 75 %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Caso ficticio con fines docentes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El problema: la clínica y la radiografía fallan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Dato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Cifra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Disnea aguda en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≈ 5 % de las visitas; la IC es la 2.ª causa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Tras un ingreso por 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Hasta el 45 % reingresa o muere en 1 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Ausencia de crepitantes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LR− de solo 0,51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Radiografía de tórax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Normal en 1 de cada 5 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196596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Kelly 2017 · Gargani 2023 · Wang 2005 · Collins 2006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Del aire al agua: líneas A y líneas B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5B3F8C"/>
                </a:solidFill>
                <a:latin typeface="Aptos"/>
              </a:rPr>
              <a:t>—  </a:t>
            </a:r>
            <a:r>
              <a:rPr sz="2400">
                <a:solidFill>
                  <a:srgbClr val="1A1A1A"/>
                </a:solidFill>
                <a:latin typeface="Aptos"/>
              </a:rPr>
              <a:t>El pulmón aireado solo produce artefactos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5B3F8C"/>
                </a:solidFill>
                <a:latin typeface="Aptos"/>
              </a:rPr>
              <a:t>—  </a:t>
            </a:r>
            <a:r>
              <a:rPr sz="2400">
                <a:solidFill>
                  <a:srgbClr val="1A1A1A"/>
                </a:solidFill>
                <a:latin typeface="Aptos"/>
              </a:rPr>
              <a:t>Líneas A: reverberación de la pleura, pulmón aireado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5B3F8C"/>
                </a:solidFill>
                <a:latin typeface="Aptos"/>
              </a:rPr>
              <a:t>—  </a:t>
            </a:r>
            <a:r>
              <a:rPr sz="2400">
                <a:solidFill>
                  <a:srgbClr val="1A1A1A"/>
                </a:solidFill>
                <a:latin typeface="Aptos"/>
              </a:rPr>
              <a:t>Líneas B: septos engrosados y agua extravascular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5B3F8C"/>
                </a:solidFill>
                <a:latin typeface="Aptos"/>
              </a:rPr>
              <a:t>—  </a:t>
            </a:r>
            <a:r>
              <a:rPr sz="2400">
                <a:solidFill>
                  <a:srgbClr val="1A1A1A"/>
                </a:solidFill>
                <a:latin typeface="Aptos"/>
              </a:rPr>
              <a:t>Líneas A → líneas B → confluentes → consolidación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Demi 2023 · Lichtenstein 1997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Qué es (y qué no es) una línea B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64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Aptos"/>
              </a:rPr>
              <a:t>Definición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64327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36432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Nace de la pleura y llega al fondo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Se mueve con el deslizamiento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Borra las líneas 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≥ 3 por espacio = zona positiva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371600"/>
            <a:ext cx="5364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Aptos"/>
              </a:rPr>
              <a:t>¿Cardiogénica o no?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920240"/>
            <a:ext cx="5364327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2103120"/>
            <a:ext cx="536432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Cardiogénica: bilateral, homogénea, pleura fina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No cardiogénica: parcheada, pleura irregular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Consolidaciones → neumonía o SDRA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Volpicelli 2012 · Gargani 2023 · Copetti 2008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Configura el equipo para el pulmón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Preset pulmonar o abdominal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Sin armónicos, sin filtros, sin compuesto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Foco en la pleura, índice mecánico bajo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Convexa o microconvexa; lineal para la pleura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Para seguir al paciente: misma sonda, preset y postura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Demi 2023 · Gargani 2023 · Platz 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El protocolo de 8 zonas (EACVI)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4 zonas por hemitórax: anterior y lateral, superior e inferior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Contar en el peor punto; clips de unos 6 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Confluentes: % de pantalla ÷ 10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Edema: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707070"/>
                </a:solidFill>
                <a:latin typeface="Aptos"/>
              </a:rPr>
              <a:t>      ·  </a:t>
            </a:r>
            <a:r>
              <a:rPr sz="1800">
                <a:solidFill>
                  <a:srgbClr val="707070"/>
                </a:solidFill>
                <a:latin typeface="Aptos"/>
              </a:rPr>
              <a:t>≥ 3 líneas B por zona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707070"/>
                </a:solidFill>
                <a:latin typeface="Aptos"/>
              </a:rPr>
              <a:t>      ·  </a:t>
            </a:r>
            <a:r>
              <a:rPr sz="1800">
                <a:solidFill>
                  <a:srgbClr val="707070"/>
                </a:solidFill>
                <a:latin typeface="Aptos"/>
              </a:rPr>
              <a:t>≥ 2 zonas por hemitórax, bilateral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Gargani 2023 (consenso EACVI) · Buessler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El protocolo BLUE en un vistazo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Perfil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Hallazgo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Orienta 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Líneas B anteriores difusas, deslizamiento 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Edema hemodinámico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A + TVP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Pulmón seco, vena no compresible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A sin TVP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Pulmón seco, venas normales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EPOC / asma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A′ + punto pulmón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Sin deslizamiento, punto pulmón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Neumotórax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A/B, C, PLAPS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Asimetría, consolidación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Neumonía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196596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4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Lichtenstein 2008 · Lichtenstein 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¿Cuánto rinde? Ecografía frente a Rx frente a péptidos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Prueba para ICA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Sensibilidad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LR+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LR−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Sirve para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Ecografía pulmonar (patrón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88–92 %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7,4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0,16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Confirmar y descartar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Radiografía de tórax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73–77 %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4,8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≈ 0,30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Confirmar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NT-proBNP &lt; 300 pg/ml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0,09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Descartar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196596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Maw 2019 · Chiu 2022 · Martindale 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Resolución del caso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Pulmón: patrón B en 7 de 8 zonas, pleura fina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Derrame pleural bilateral pequeño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FoCUS: FEVI visual muy reducida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Probabilidad de ICA: 40 % → ≈ 83 %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Diurético i.v. sin esperar al péptido; sin antibiótico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Martindale 2016 · Popat 2026 · McDonagh 2021 (ESC)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1737360"/>
            <a:ext cx="822960" cy="25400"/>
          </a:xfrm>
          <a:prstGeom prst="rect">
            <a:avLst/>
          </a:prstGeom>
          <a:solidFill>
            <a:srgbClr val="9C8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3137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ptos Display"/>
              </a:rPr>
              <a:t>Patrón para diagnosticar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389120"/>
            <a:ext cx="96313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BDBDBD"/>
                </a:solidFill>
                <a:latin typeface="Aptos"/>
              </a:rPr>
              <a:t>Líneas B difusas y bilaterales + FoCUS confirman la ICA mejor que la radiografía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Caso 3 · Pulmón normal, paciente que no respira bien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Disnea aguda con perfil A bilateral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Compresión venosa: vena femoral no compresible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Perfil A + TVP → TEP (especificidad del 99 %)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Perfil A sin TVP no descarta el TEP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BLUE en urgencias: sensibilidad para el TEP del 46 %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Multiórgano (pulmón, corazón, venas): sensibilidad del 90 %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Lichtenstein 2008 · Bekgoz 2019 · Nazerian 2014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1737360"/>
            <a:ext cx="822960" cy="25400"/>
          </a:xfrm>
          <a:prstGeom prst="rect">
            <a:avLst/>
          </a:prstGeom>
          <a:solidFill>
            <a:srgbClr val="9C8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3137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ptos Display"/>
              </a:rPr>
              <a:t>Perfil A: mira las piernas y el corazón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Caso 2 · «Mañana se va de alta»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ICA en mejoría; «seco» a la auscultación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Líneas B residuales en ambos hemitórax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Hasta el 41 % de los «secos» tiene congestión ecográfica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Líneas B al alta: HR 2,32 de reingreso o muerte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5B3F8C"/>
                </a:solidFill>
                <a:latin typeface="Aptos"/>
              </a:rPr>
              <a:t>—  </a:t>
            </a:r>
            <a:r>
              <a:rPr sz="2200">
                <a:solidFill>
                  <a:srgbClr val="1A1A1A"/>
                </a:solidFill>
                <a:latin typeface="Aptos"/>
              </a:rPr>
              <a:t>ESC: descartar la congestión antes del alta (I 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Rivas-Lasarte 2020 · Suhardi 2025 · McDonagh 2021 · Gargani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¿Guiar el diurético por las líneas B?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Ámbito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Resultado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Evidencia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Consulta y tras el 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Visitas urgentes por IC: RR 0,31–0,38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4 metaanálisis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Consulta y tras el 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Hospitalización por IC: discordante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4 metaanálisis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Consulta y tras el 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Mortalidad: sin efecto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4 metaanálisis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Durante el ingreso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Sin beneficio demostrado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Pilotos negativos (BLUSHED-AHF)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196596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Mhanna 2022 · Al-Sagban 2026 · Chotalia 2026 · Bagheri 2026 · Pang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1737360"/>
            <a:ext cx="822960" cy="25400"/>
          </a:xfrm>
          <a:prstGeom prst="rect">
            <a:avLst/>
          </a:prstGeom>
          <a:solidFill>
            <a:srgbClr val="9C8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3137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ptos Display"/>
              </a:rPr>
              <a:t>Número para seguir la evolución, y al alta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Qué dicen las guías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Documento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Qué dice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  <a:latin typeface="Aptos"/>
                        </a:rPr>
                        <a:t>Fuerza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ESC IC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LUS «se puede considerar»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Sin clase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ESC IC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Descartar congestión antes del 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I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EACVI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LUS «apropiada»; protocolo de 8 zonas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Consenso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ACP 2021 · SCCM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POCUS si hay incertidumbre diagnóstica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Condicional, certeza baja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SEMI 2025 · SEMI/SEC/S.E.N.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Posicionamiento y escala de congestión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ptos"/>
                        </a:rPr>
                        <a:t>Sin gradación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196596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40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McDonagh 2021 · Gargani 2023 · Qaseem 2021 · Díaz-Gómez 2025 · Tung-Chen 2025 · Llàcer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Errores frecuentes y cómo empezar mañana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64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Aptos"/>
              </a:rPr>
              <a:t>Errores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64327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36432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Líneas B ≠ IC (SDRA, neumonía, fibrosis)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Una zona aislada no es edema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Sin líneas B no se descarta la IC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Sin deslizamiento ≠ neumotórax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371600"/>
            <a:ext cx="5364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Aptos"/>
              </a:rPr>
              <a:t>Cómo empezar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920240"/>
            <a:ext cx="5364327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2103120"/>
            <a:ext cx="536432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5–20 exploraciones supervisadas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Siempre el mismo protocolo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Documentar zonas y clips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5B3F8C"/>
                </a:solidFill>
                <a:latin typeface="Aptos"/>
              </a:rPr>
              <a:t>—  </a:t>
            </a:r>
            <a:r>
              <a:rPr sz="1800">
                <a:solidFill>
                  <a:srgbClr val="1A1A1A"/>
                </a:solidFill>
                <a:latin typeface="Aptos"/>
              </a:rPr>
              <a:t>Integrar con la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1800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Aptos"/>
              </a:rPr>
              <a:t>Fuente: Copetti 2008 · Chiem 2015 · Johannessen 2023 · Lichtenstein 2014 · Russell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1737360"/>
            <a:ext cx="822960" cy="25400"/>
          </a:xfrm>
          <a:prstGeom prst="rect">
            <a:avLst/>
          </a:prstGeom>
          <a:solidFill>
            <a:srgbClr val="9C8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3137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ptos Display"/>
              </a:rPr>
              <a:t>1 · Patrón para diagnosticar   2 · Perfil A: mira las piernas   3 · Número para seguir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389120"/>
            <a:ext cx="96313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BDBDBD"/>
                </a:solidFill>
                <a:latin typeface="Aptos"/>
              </a:rPr>
              <a:t>Con 5 minutos y un ecógrafo, el paciente del caso 1 habría recibido su diurético una hora antes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000" b="0" i="0">
                <a:solidFill>
                  <a:srgbClr val="111111"/>
                </a:solidFill>
                <a:latin typeface="Aptos Display"/>
              </a:rPr>
              <a:t>Bibliografía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94415" cy="9525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00658"/>
            <a:ext cx="548640" cy="22225"/>
          </a:xfrm>
          <a:prstGeom prst="rect">
            <a:avLst/>
          </a:prstGeom>
          <a:solidFill>
            <a:srgbClr val="5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1. Gargani L, et al. Lung ultrasound in acute and chronic heart failure (EACVI). Eur Heart J Cardiovasc Imaging. 2023;24:1569-82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2. Demi L, et al. New International Guidelines and Consensus on the Use of Lung Ultrasound. J Ultrasound Med. 2023;42:309-44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3. McDonagh TA, et al. 2021 ESC Guidelines for acute and chronic heart failure. Eur Heart J. 2021;42:3599-726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4. Qaseem A, et al. Point-of-care ultrasonography in acute dyspnea (ACP). Ann Intern Med. 2021;174:985-93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5. Lichtenstein DA, Mezière GA. The BLUE protocol. Chest. 2008;134:117-25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6. Maw AM, et al. POCUS lung ultrasound vs chest radiography in ADHF. JAMA Netw Open. 2019;2:e190703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7. Martindale JL, et al. Diagnosing acute heart failure in the ED. Acad Emerg Med. 2016;23:223-42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8. Pivetta E, et al. Lung ultrasound integrated with clinical assessment for ADHF: RCT. Eur J Heart Fail. 2019;21:754-66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9. Szabó GV, et al. POCUS in acute onset dyspnea: SR/MA. Intern Emerg Med. 2023;18:639-53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10. Al-Sagban A, et al. Lung ultrasound-guided decongestion: SR/MA of RCTs. J Crit Care. 2026;93:155435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11. Rivas-Lasarte M, et al. Subclinical pulmonary congestion at discharge in AHF. ESC Heart Fail. 2020;7:2621-8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12. Suhardi KF, et al. Residual B-lines and cardiovascular events in AHF: SR/MA. Indian Heart J. 2025;77:258-66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